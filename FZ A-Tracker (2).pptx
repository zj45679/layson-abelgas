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oboto Condensed Bold" charset="1" panose="02000000000000000000"/>
      <p:regular r:id="rId18"/>
    </p:embeddedFont>
    <p:embeddedFont>
      <p:font typeface="Roboto Condensed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20.png" Type="http://schemas.openxmlformats.org/officeDocument/2006/relationships/image"/><Relationship Id="rId15" Target="../media/image21.svg" Type="http://schemas.openxmlformats.org/officeDocument/2006/relationships/image"/><Relationship Id="rId16" Target="../media/image22.png" Type="http://schemas.openxmlformats.org/officeDocument/2006/relationships/image"/><Relationship Id="rId17" Target="../media/image23.svg" Type="http://schemas.openxmlformats.org/officeDocument/2006/relationships/image"/><Relationship Id="rId18" Target="../media/image24.png" Type="http://schemas.openxmlformats.org/officeDocument/2006/relationships/image"/><Relationship Id="rId19" Target="../media/image25.svg" Type="http://schemas.openxmlformats.org/officeDocument/2006/relationships/image"/><Relationship Id="rId2" Target="../media/image8.png" Type="http://schemas.openxmlformats.org/officeDocument/2006/relationships/image"/><Relationship Id="rId20" Target="../media/image26.png" Type="http://schemas.openxmlformats.org/officeDocument/2006/relationships/image"/><Relationship Id="rId21" Target="../media/image27.svg" Type="http://schemas.openxmlformats.org/officeDocument/2006/relationships/image"/><Relationship Id="rId22" Target="../media/image28.png" Type="http://schemas.openxmlformats.org/officeDocument/2006/relationships/image"/><Relationship Id="rId23" Target="../media/image29.svg" Type="http://schemas.openxmlformats.org/officeDocument/2006/relationships/image"/><Relationship Id="rId24" Target="../media/image30.png" Type="http://schemas.openxmlformats.org/officeDocument/2006/relationships/image"/><Relationship Id="rId25" Target="../media/image31.sv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svg" Type="http://schemas.openxmlformats.org/officeDocument/2006/relationships/image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jpe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png" Type="http://schemas.openxmlformats.org/officeDocument/2006/relationships/image"/><Relationship Id="rId11" Target="../media/image3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png" Type="http://schemas.openxmlformats.org/officeDocument/2006/relationships/image"/><Relationship Id="rId11" Target="../media/image46.svg" Type="http://schemas.openxmlformats.org/officeDocument/2006/relationships/image"/><Relationship Id="rId12" Target="../media/image2.png" Type="http://schemas.openxmlformats.org/officeDocument/2006/relationships/image"/><Relationship Id="rId13" Target="../media/image3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46" t="0" r="-8746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060987">
            <a:off x="8395022" y="-1603437"/>
            <a:ext cx="12247371" cy="15299036"/>
            <a:chOff x="0" y="0"/>
            <a:chExt cx="3225645" cy="40293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25645" cy="4029376"/>
            </a:xfrm>
            <a:custGeom>
              <a:avLst/>
              <a:gdLst/>
              <a:ahLst/>
              <a:cxnLst/>
              <a:rect r="r" b="b" t="t" l="l"/>
              <a:pathLst>
                <a:path h="4029376" w="3225645">
                  <a:moveTo>
                    <a:pt x="0" y="0"/>
                  </a:moveTo>
                  <a:lnTo>
                    <a:pt x="3225645" y="0"/>
                  </a:lnTo>
                  <a:lnTo>
                    <a:pt x="3225645" y="4029376"/>
                  </a:lnTo>
                  <a:lnTo>
                    <a:pt x="0" y="4029376"/>
                  </a:lnTo>
                  <a:close/>
                </a:path>
              </a:pathLst>
            </a:custGeom>
            <a:solidFill>
              <a:srgbClr val="072227">
                <a:alpha val="8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225645" cy="4086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922478" y="4836527"/>
            <a:ext cx="8978563" cy="1652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97"/>
              </a:lnSpc>
            </a:pPr>
            <a:r>
              <a:rPr lang="en-US" b="true" sz="1110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FZ A-TRACKER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4385921">
            <a:off x="1811542" y="4050978"/>
            <a:ext cx="13559562" cy="542382"/>
          </a:xfrm>
          <a:custGeom>
            <a:avLst/>
            <a:gdLst/>
            <a:ahLst/>
            <a:cxnLst/>
            <a:rect r="r" b="b" t="t" l="l"/>
            <a:pathLst>
              <a:path h="542382" w="13559562">
                <a:moveTo>
                  <a:pt x="0" y="0"/>
                </a:moveTo>
                <a:lnTo>
                  <a:pt x="13559563" y="0"/>
                </a:lnTo>
                <a:lnTo>
                  <a:pt x="13559563" y="542382"/>
                </a:lnTo>
                <a:lnTo>
                  <a:pt x="0" y="5423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1190053" y="-400110"/>
            <a:ext cx="7561508" cy="5198537"/>
          </a:xfrm>
          <a:custGeom>
            <a:avLst/>
            <a:gdLst/>
            <a:ahLst/>
            <a:cxnLst/>
            <a:rect r="r" b="b" t="t" l="l"/>
            <a:pathLst>
              <a:path h="5198537" w="7561508">
                <a:moveTo>
                  <a:pt x="0" y="0"/>
                </a:moveTo>
                <a:lnTo>
                  <a:pt x="7561507" y="0"/>
                </a:lnTo>
                <a:lnTo>
                  <a:pt x="7561507" y="5198537"/>
                </a:lnTo>
                <a:lnTo>
                  <a:pt x="0" y="51985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3411760" y="8542647"/>
            <a:ext cx="5711110" cy="1620528"/>
          </a:xfrm>
          <a:custGeom>
            <a:avLst/>
            <a:gdLst/>
            <a:ahLst/>
            <a:cxnLst/>
            <a:rect r="r" b="b" t="t" l="l"/>
            <a:pathLst>
              <a:path h="1620528" w="5711110">
                <a:moveTo>
                  <a:pt x="0" y="0"/>
                </a:moveTo>
                <a:lnTo>
                  <a:pt x="5711110" y="0"/>
                </a:lnTo>
                <a:lnTo>
                  <a:pt x="5711110" y="1620528"/>
                </a:lnTo>
                <a:lnTo>
                  <a:pt x="0" y="162052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200443" y="6496275"/>
            <a:ext cx="8700597" cy="1084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37"/>
              </a:lnSpc>
            </a:pPr>
            <a:r>
              <a:rPr lang="en-US" b="true" sz="7211">
                <a:solidFill>
                  <a:srgbClr val="AEF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PROJECT PROPOSAL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32863" y="7927288"/>
            <a:ext cx="4912321" cy="1777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999" spc="199">
                <a:solidFill>
                  <a:srgbClr val="4FBDB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Presentors:</a:t>
            </a:r>
          </a:p>
          <a:p>
            <a:pPr algn="ctr">
              <a:lnSpc>
                <a:spcPts val="4679"/>
              </a:lnSpc>
            </a:pPr>
            <a:r>
              <a:rPr lang="en-US" b="true" sz="3999" spc="199">
                <a:solidFill>
                  <a:srgbClr val="4FBDB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Zirk Ji E. Abelgas</a:t>
            </a:r>
          </a:p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4FBDBA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Febb Vendick Layson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8050" y="9749654"/>
            <a:ext cx="18926050" cy="7002250"/>
            <a:chOff x="0" y="0"/>
            <a:chExt cx="4984639" cy="18442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84639" cy="1844214"/>
            </a:xfrm>
            <a:custGeom>
              <a:avLst/>
              <a:gdLst/>
              <a:ahLst/>
              <a:cxnLst/>
              <a:rect r="r" b="b" t="t" l="l"/>
              <a:pathLst>
                <a:path h="1844214" w="4984639">
                  <a:moveTo>
                    <a:pt x="0" y="0"/>
                  </a:moveTo>
                  <a:lnTo>
                    <a:pt x="4984639" y="0"/>
                  </a:lnTo>
                  <a:lnTo>
                    <a:pt x="4984639" y="1844214"/>
                  </a:lnTo>
                  <a:lnTo>
                    <a:pt x="0" y="1844214"/>
                  </a:lnTo>
                  <a:close/>
                </a:path>
              </a:pathLst>
            </a:custGeom>
            <a:solidFill>
              <a:srgbClr val="4FBDB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4984639" cy="19013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17876" y="2920042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3" y="0"/>
                </a:lnTo>
                <a:lnTo>
                  <a:pt x="4632893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7876" y="5199592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3" y="0"/>
                </a:lnTo>
                <a:lnTo>
                  <a:pt x="4632893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17876" y="7474623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3" y="0"/>
                </a:lnTo>
                <a:lnTo>
                  <a:pt x="4632893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828089" y="2920042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2" y="0"/>
                </a:lnTo>
                <a:lnTo>
                  <a:pt x="4632892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28089" y="5199592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2" y="0"/>
                </a:lnTo>
                <a:lnTo>
                  <a:pt x="4632892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828089" y="7474623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2" y="0"/>
                </a:lnTo>
                <a:lnTo>
                  <a:pt x="4632892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937231" y="2920042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3" y="0"/>
                </a:lnTo>
                <a:lnTo>
                  <a:pt x="4632893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937231" y="5199592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3" y="0"/>
                </a:lnTo>
                <a:lnTo>
                  <a:pt x="4632893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937231" y="7474623"/>
            <a:ext cx="4632892" cy="1484456"/>
          </a:xfrm>
          <a:custGeom>
            <a:avLst/>
            <a:gdLst/>
            <a:ahLst/>
            <a:cxnLst/>
            <a:rect r="r" b="b" t="t" l="l"/>
            <a:pathLst>
              <a:path h="1484456" w="4632892">
                <a:moveTo>
                  <a:pt x="0" y="0"/>
                </a:moveTo>
                <a:lnTo>
                  <a:pt x="4632893" y="0"/>
                </a:lnTo>
                <a:lnTo>
                  <a:pt x="4632893" y="1484456"/>
                </a:lnTo>
                <a:lnTo>
                  <a:pt x="0" y="148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0" y="856107"/>
            <a:ext cx="5933725" cy="924672"/>
          </a:xfrm>
          <a:custGeom>
            <a:avLst/>
            <a:gdLst/>
            <a:ahLst/>
            <a:cxnLst/>
            <a:rect r="r" b="b" t="t" l="l"/>
            <a:pathLst>
              <a:path h="924672" w="5933725">
                <a:moveTo>
                  <a:pt x="0" y="0"/>
                </a:moveTo>
                <a:lnTo>
                  <a:pt x="5933725" y="0"/>
                </a:lnTo>
                <a:lnTo>
                  <a:pt x="5933725" y="924672"/>
                </a:lnTo>
                <a:lnTo>
                  <a:pt x="0" y="9246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671693" y="1303459"/>
            <a:ext cx="5616307" cy="634175"/>
          </a:xfrm>
          <a:custGeom>
            <a:avLst/>
            <a:gdLst/>
            <a:ahLst/>
            <a:cxnLst/>
            <a:rect r="r" b="b" t="t" l="l"/>
            <a:pathLst>
              <a:path h="634175" w="5616307">
                <a:moveTo>
                  <a:pt x="0" y="0"/>
                </a:moveTo>
                <a:lnTo>
                  <a:pt x="5616307" y="0"/>
                </a:lnTo>
                <a:lnTo>
                  <a:pt x="5616307" y="634175"/>
                </a:lnTo>
                <a:lnTo>
                  <a:pt x="0" y="6341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74712" y="3240687"/>
            <a:ext cx="843165" cy="843165"/>
          </a:xfrm>
          <a:custGeom>
            <a:avLst/>
            <a:gdLst/>
            <a:ahLst/>
            <a:cxnLst/>
            <a:rect r="r" b="b" t="t" l="l"/>
            <a:pathLst>
              <a:path h="843165" w="843165">
                <a:moveTo>
                  <a:pt x="0" y="0"/>
                </a:moveTo>
                <a:lnTo>
                  <a:pt x="843164" y="0"/>
                </a:lnTo>
                <a:lnTo>
                  <a:pt x="843164" y="843165"/>
                </a:lnTo>
                <a:lnTo>
                  <a:pt x="0" y="84316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74712" y="5505010"/>
            <a:ext cx="843165" cy="843165"/>
          </a:xfrm>
          <a:custGeom>
            <a:avLst/>
            <a:gdLst/>
            <a:ahLst/>
            <a:cxnLst/>
            <a:rect r="r" b="b" t="t" l="l"/>
            <a:pathLst>
              <a:path h="843165" w="843165">
                <a:moveTo>
                  <a:pt x="0" y="0"/>
                </a:moveTo>
                <a:lnTo>
                  <a:pt x="843164" y="0"/>
                </a:lnTo>
                <a:lnTo>
                  <a:pt x="843164" y="843165"/>
                </a:lnTo>
                <a:lnTo>
                  <a:pt x="0" y="8431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36179" y="7656736"/>
            <a:ext cx="1120229" cy="1120229"/>
          </a:xfrm>
          <a:custGeom>
            <a:avLst/>
            <a:gdLst/>
            <a:ahLst/>
            <a:cxnLst/>
            <a:rect r="r" b="b" t="t" l="l"/>
            <a:pathLst>
              <a:path h="1120229" w="1120229">
                <a:moveTo>
                  <a:pt x="0" y="0"/>
                </a:moveTo>
                <a:lnTo>
                  <a:pt x="1120229" y="0"/>
                </a:lnTo>
                <a:lnTo>
                  <a:pt x="1120229" y="1120229"/>
                </a:lnTo>
                <a:lnTo>
                  <a:pt x="0" y="112022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265395" y="3262947"/>
            <a:ext cx="820905" cy="820905"/>
          </a:xfrm>
          <a:custGeom>
            <a:avLst/>
            <a:gdLst/>
            <a:ahLst/>
            <a:cxnLst/>
            <a:rect r="r" b="b" t="t" l="l"/>
            <a:pathLst>
              <a:path h="820905" w="820905">
                <a:moveTo>
                  <a:pt x="0" y="0"/>
                </a:moveTo>
                <a:lnTo>
                  <a:pt x="820906" y="0"/>
                </a:lnTo>
                <a:lnTo>
                  <a:pt x="820906" y="820905"/>
                </a:lnTo>
                <a:lnTo>
                  <a:pt x="0" y="82090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152576" y="5462371"/>
            <a:ext cx="1042744" cy="1042744"/>
          </a:xfrm>
          <a:custGeom>
            <a:avLst/>
            <a:gdLst/>
            <a:ahLst/>
            <a:cxnLst/>
            <a:rect r="r" b="b" t="t" l="l"/>
            <a:pathLst>
              <a:path h="1042744" w="1042744">
                <a:moveTo>
                  <a:pt x="0" y="0"/>
                </a:moveTo>
                <a:lnTo>
                  <a:pt x="1042744" y="0"/>
                </a:lnTo>
                <a:lnTo>
                  <a:pt x="1042744" y="1042744"/>
                </a:lnTo>
                <a:lnTo>
                  <a:pt x="0" y="104274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255116" y="7656736"/>
            <a:ext cx="841464" cy="841464"/>
          </a:xfrm>
          <a:custGeom>
            <a:avLst/>
            <a:gdLst/>
            <a:ahLst/>
            <a:cxnLst/>
            <a:rect r="r" b="b" t="t" l="l"/>
            <a:pathLst>
              <a:path h="841464" w="841464">
                <a:moveTo>
                  <a:pt x="0" y="0"/>
                </a:moveTo>
                <a:lnTo>
                  <a:pt x="841464" y="0"/>
                </a:lnTo>
                <a:lnTo>
                  <a:pt x="841464" y="841464"/>
                </a:lnTo>
                <a:lnTo>
                  <a:pt x="0" y="84146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338835" y="3262947"/>
            <a:ext cx="798325" cy="798325"/>
          </a:xfrm>
          <a:custGeom>
            <a:avLst/>
            <a:gdLst/>
            <a:ahLst/>
            <a:cxnLst/>
            <a:rect r="r" b="b" t="t" l="l"/>
            <a:pathLst>
              <a:path h="798325" w="798325">
                <a:moveTo>
                  <a:pt x="0" y="0"/>
                </a:moveTo>
                <a:lnTo>
                  <a:pt x="798324" y="0"/>
                </a:lnTo>
                <a:lnTo>
                  <a:pt x="798324" y="798325"/>
                </a:lnTo>
                <a:lnTo>
                  <a:pt x="0" y="79832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257452" y="5471298"/>
            <a:ext cx="879707" cy="879707"/>
          </a:xfrm>
          <a:custGeom>
            <a:avLst/>
            <a:gdLst/>
            <a:ahLst/>
            <a:cxnLst/>
            <a:rect r="r" b="b" t="t" l="l"/>
            <a:pathLst>
              <a:path h="879707" w="879707">
                <a:moveTo>
                  <a:pt x="0" y="0"/>
                </a:moveTo>
                <a:lnTo>
                  <a:pt x="879707" y="0"/>
                </a:lnTo>
                <a:lnTo>
                  <a:pt x="879707" y="879707"/>
                </a:lnTo>
                <a:lnTo>
                  <a:pt x="0" y="87970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231152" y="7607973"/>
            <a:ext cx="932308" cy="932308"/>
          </a:xfrm>
          <a:custGeom>
            <a:avLst/>
            <a:gdLst/>
            <a:ahLst/>
            <a:cxnLst/>
            <a:rect r="r" b="b" t="t" l="l"/>
            <a:pathLst>
              <a:path h="932308" w="932308">
                <a:moveTo>
                  <a:pt x="0" y="0"/>
                </a:moveTo>
                <a:lnTo>
                  <a:pt x="932308" y="0"/>
                </a:lnTo>
                <a:lnTo>
                  <a:pt x="932308" y="932308"/>
                </a:lnTo>
                <a:lnTo>
                  <a:pt x="0" y="93230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615772" y="1038225"/>
            <a:ext cx="7056457" cy="95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b="true" sz="63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Table Of Contents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54445" y="3073625"/>
            <a:ext cx="3163969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999" spc="199">
                <a:solidFill>
                  <a:srgbClr val="B2D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Problem Statement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54445" y="5337948"/>
            <a:ext cx="3163969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999" spc="199">
                <a:solidFill>
                  <a:srgbClr val="B2D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Project objectives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454445" y="7617498"/>
            <a:ext cx="3163969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999" spc="199">
                <a:solidFill>
                  <a:srgbClr val="B2D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Planned features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195320" y="3393652"/>
            <a:ext cx="4265661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999" spc="199">
                <a:solidFill>
                  <a:srgbClr val="B2D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Planned inputs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46166" y="5353175"/>
            <a:ext cx="3163969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999" spc="199">
                <a:solidFill>
                  <a:srgbClr val="B2D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Sample output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86301" y="7665885"/>
            <a:ext cx="4374681" cy="1080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2"/>
              </a:lnSpc>
            </a:pPr>
            <a:r>
              <a:rPr lang="en-US" b="true" sz="3600" spc="180">
                <a:solidFill>
                  <a:srgbClr val="B2D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Flow of code(pseudocode)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14101" y="3073625"/>
            <a:ext cx="3679152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999" spc="199">
                <a:solidFill>
                  <a:srgbClr val="B2D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Flow of code(flowchart)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414101" y="5395098"/>
            <a:ext cx="3898431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999" spc="199">
                <a:solidFill>
                  <a:srgbClr val="B2D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GitHub repository link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671693" y="7923481"/>
            <a:ext cx="3163969" cy="596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</a:pPr>
            <a:r>
              <a:rPr lang="en-US" b="true" sz="3999" spc="199">
                <a:solidFill>
                  <a:srgbClr val="B2D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6230600" cy="8182927"/>
          </a:xfrm>
          <a:custGeom>
            <a:avLst/>
            <a:gdLst/>
            <a:ahLst/>
            <a:cxnLst/>
            <a:rect r="r" b="b" t="t" l="l"/>
            <a:pathLst>
              <a:path h="8182927" w="16230600">
                <a:moveTo>
                  <a:pt x="0" y="0"/>
                </a:moveTo>
                <a:lnTo>
                  <a:pt x="16230600" y="0"/>
                </a:lnTo>
                <a:lnTo>
                  <a:pt x="16230600" y="8182927"/>
                </a:lnTo>
                <a:lnTo>
                  <a:pt x="0" y="8182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2434209" y="2600578"/>
            <a:ext cx="3940583" cy="5246370"/>
            <a:chOff x="0" y="0"/>
            <a:chExt cx="3663950" cy="48780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1750" y="31750"/>
              <a:ext cx="3600450" cy="4814570"/>
            </a:xfrm>
            <a:custGeom>
              <a:avLst/>
              <a:gdLst/>
              <a:ahLst/>
              <a:cxnLst/>
              <a:rect r="r" b="b" t="t" l="l"/>
              <a:pathLst>
                <a:path h="4814570" w="3600450">
                  <a:moveTo>
                    <a:pt x="0" y="0"/>
                  </a:moveTo>
                  <a:lnTo>
                    <a:pt x="3600450" y="0"/>
                  </a:lnTo>
                  <a:lnTo>
                    <a:pt x="3600450" y="4814570"/>
                  </a:lnTo>
                  <a:lnTo>
                    <a:pt x="0" y="4814570"/>
                  </a:lnTo>
                  <a:close/>
                </a:path>
              </a:pathLst>
            </a:custGeom>
            <a:blipFill>
              <a:blip r:embed="rId4"/>
              <a:stretch>
                <a:fillRect l="-39147" t="0" r="-39147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63950" cy="4878070"/>
            </a:xfrm>
            <a:custGeom>
              <a:avLst/>
              <a:gdLst/>
              <a:ahLst/>
              <a:cxnLst/>
              <a:rect r="r" b="b" t="t" l="l"/>
              <a:pathLst>
                <a:path h="4878070" w="3663950">
                  <a:moveTo>
                    <a:pt x="3663950" y="4878070"/>
                  </a:moveTo>
                  <a:lnTo>
                    <a:pt x="0" y="4878070"/>
                  </a:lnTo>
                  <a:lnTo>
                    <a:pt x="0" y="0"/>
                  </a:lnTo>
                  <a:lnTo>
                    <a:pt x="3663950" y="0"/>
                  </a:lnTo>
                  <a:lnTo>
                    <a:pt x="3663950" y="4878070"/>
                  </a:lnTo>
                  <a:close/>
                  <a:moveTo>
                    <a:pt x="63500" y="4814570"/>
                  </a:moveTo>
                  <a:lnTo>
                    <a:pt x="3600450" y="4814570"/>
                  </a:lnTo>
                  <a:lnTo>
                    <a:pt x="3600450" y="63500"/>
                  </a:lnTo>
                  <a:lnTo>
                    <a:pt x="63500" y="63500"/>
                  </a:lnTo>
                  <a:lnTo>
                    <a:pt x="63500" y="4814570"/>
                  </a:lnTo>
                  <a:close/>
                </a:path>
              </a:pathLst>
            </a:custGeom>
            <a:solidFill>
              <a:srgbClr val="B2DE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434209" y="7500505"/>
            <a:ext cx="3940583" cy="346443"/>
          </a:xfrm>
          <a:custGeom>
            <a:avLst/>
            <a:gdLst/>
            <a:ahLst/>
            <a:cxnLst/>
            <a:rect r="r" b="b" t="t" l="l"/>
            <a:pathLst>
              <a:path h="346443" w="3940583">
                <a:moveTo>
                  <a:pt x="0" y="0"/>
                </a:moveTo>
                <a:lnTo>
                  <a:pt x="3940582" y="0"/>
                </a:lnTo>
                <a:lnTo>
                  <a:pt x="3940582" y="346443"/>
                </a:lnTo>
                <a:lnTo>
                  <a:pt x="0" y="3464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614769" y="8389485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6887969" y="-868815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758541" y="-1897515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518563" y="7314112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1"/>
                </a:lnTo>
                <a:lnTo>
                  <a:pt x="0" y="37950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23970" y="7220921"/>
            <a:ext cx="2402691" cy="3066079"/>
          </a:xfrm>
          <a:custGeom>
            <a:avLst/>
            <a:gdLst/>
            <a:ahLst/>
            <a:cxnLst/>
            <a:rect r="r" b="b" t="t" l="l"/>
            <a:pathLst>
              <a:path h="3066079" w="2402691">
                <a:moveTo>
                  <a:pt x="0" y="0"/>
                </a:moveTo>
                <a:lnTo>
                  <a:pt x="2402690" y="0"/>
                </a:lnTo>
                <a:lnTo>
                  <a:pt x="2402690" y="3066079"/>
                </a:lnTo>
                <a:lnTo>
                  <a:pt x="0" y="30660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489950" y="4069466"/>
            <a:ext cx="9072982" cy="360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4"/>
              </a:lnSpc>
            </a:pPr>
            <a:r>
              <a:rPr lang="en-US" sz="3499">
                <a:solidFill>
                  <a:srgbClr val="AEFE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Students often struggle to track grades and study progress in an organized way. FZ A-Tracker solves this by storing scores, identifying performance patterns, predicting future results, and sending study reminders, making academic monitoring sim</a:t>
            </a:r>
            <a:r>
              <a:rPr lang="en-US" sz="3499">
                <a:solidFill>
                  <a:srgbClr val="AEFE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pler and more efficient for students. </a:t>
            </a:r>
          </a:p>
          <a:p>
            <a:pPr algn="l">
              <a:lnSpc>
                <a:spcPts val="409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489950" y="2610103"/>
            <a:ext cx="7056457" cy="95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7"/>
              </a:lnSpc>
            </a:pPr>
            <a:r>
              <a:rPr lang="en-US" sz="6399" b="true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521075" y="-377508"/>
            <a:ext cx="27488974" cy="3086100"/>
            <a:chOff x="0" y="0"/>
            <a:chExt cx="723989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39895" cy="812800"/>
            </a:xfrm>
            <a:custGeom>
              <a:avLst/>
              <a:gdLst/>
              <a:ahLst/>
              <a:cxnLst/>
              <a:rect r="r" b="b" t="t" l="l"/>
              <a:pathLst>
                <a:path h="812800" w="7239895">
                  <a:moveTo>
                    <a:pt x="0" y="0"/>
                  </a:moveTo>
                  <a:lnTo>
                    <a:pt x="7239895" y="0"/>
                  </a:lnTo>
                  <a:lnTo>
                    <a:pt x="72398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239895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0" y="2339060"/>
            <a:ext cx="18476613" cy="739065"/>
          </a:xfrm>
          <a:custGeom>
            <a:avLst/>
            <a:gdLst/>
            <a:ahLst/>
            <a:cxnLst/>
            <a:rect r="r" b="b" t="t" l="l"/>
            <a:pathLst>
              <a:path h="739065" w="18476613">
                <a:moveTo>
                  <a:pt x="0" y="0"/>
                </a:moveTo>
                <a:lnTo>
                  <a:pt x="18476613" y="0"/>
                </a:lnTo>
                <a:lnTo>
                  <a:pt x="18476613" y="739064"/>
                </a:lnTo>
                <a:lnTo>
                  <a:pt x="0" y="739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1086438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297375" y="-1086438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615772" y="691388"/>
            <a:ext cx="7056457" cy="95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b="true" sz="63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Project objectives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5506" y="3432669"/>
            <a:ext cx="17452494" cy="650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9" indent="-431800" lvl="1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199">
                <a:solidFill>
                  <a:srgbClr val="4FBDB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design a basic program that allows students to record and monitor their scores and grades accurately.</a:t>
            </a:r>
          </a:p>
          <a:p>
            <a:pPr algn="l" marL="863599" indent="-431800" lvl="1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199">
                <a:solidFill>
                  <a:srgbClr val="4FBDB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include a simple feature that shows general performance trends based on previous results.</a:t>
            </a:r>
          </a:p>
          <a:p>
            <a:pPr algn="l" marL="863599" indent="-431800" lvl="1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199">
                <a:solidFill>
                  <a:srgbClr val="4FBDB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add a notification system that reminds students about study times or important tasks.</a:t>
            </a:r>
          </a:p>
          <a:p>
            <a:pPr algn="l" marL="863599" indent="-431800" lvl="1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199">
                <a:solidFill>
                  <a:srgbClr val="4FBDB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provide an option for users to save or export their grade records for future reference.</a:t>
            </a:r>
          </a:p>
          <a:p>
            <a:pPr algn="l" marL="863599" indent="-431800" lvl="1">
              <a:lnSpc>
                <a:spcPts val="467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spc="199">
                <a:solidFill>
                  <a:srgbClr val="4FBDB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To create an easy-to-use academic tracking tool that both students and teachers can navigate without difficulty.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521075" y="-377508"/>
            <a:ext cx="27488974" cy="3086100"/>
            <a:chOff x="0" y="0"/>
            <a:chExt cx="723989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39895" cy="812800"/>
            </a:xfrm>
            <a:custGeom>
              <a:avLst/>
              <a:gdLst/>
              <a:ahLst/>
              <a:cxnLst/>
              <a:rect r="r" b="b" t="t" l="l"/>
              <a:pathLst>
                <a:path h="812800" w="7239895">
                  <a:moveTo>
                    <a:pt x="0" y="0"/>
                  </a:moveTo>
                  <a:lnTo>
                    <a:pt x="7239895" y="0"/>
                  </a:lnTo>
                  <a:lnTo>
                    <a:pt x="72398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239895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0" y="2339060"/>
            <a:ext cx="18476613" cy="739065"/>
          </a:xfrm>
          <a:custGeom>
            <a:avLst/>
            <a:gdLst/>
            <a:ahLst/>
            <a:cxnLst/>
            <a:rect r="r" b="b" t="t" l="l"/>
            <a:pathLst>
              <a:path h="739065" w="18476613">
                <a:moveTo>
                  <a:pt x="0" y="0"/>
                </a:moveTo>
                <a:lnTo>
                  <a:pt x="18476613" y="0"/>
                </a:lnTo>
                <a:lnTo>
                  <a:pt x="18476613" y="739064"/>
                </a:lnTo>
                <a:lnTo>
                  <a:pt x="0" y="739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1086438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297375" y="-1086438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615772" y="691388"/>
            <a:ext cx="7056457" cy="95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b="true" sz="63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Planned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2855" y="4110911"/>
            <a:ext cx="17150904" cy="5588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78" indent="-453389" lvl="1">
              <a:lnSpc>
                <a:spcPts val="4913"/>
              </a:lnSpc>
              <a:spcBef>
                <a:spcPct val="0"/>
              </a:spcBef>
              <a:buAutoNum type="arabicPeriod" startAt="1"/>
            </a:pPr>
            <a:r>
              <a:rPr lang="en-US" sz="4199" spc="209">
                <a:solidFill>
                  <a:srgbClr val="4FBDB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Grade Input &amp; Management – Enter, edit, and view student scores</a:t>
            </a:r>
          </a:p>
          <a:p>
            <a:pPr algn="l">
              <a:lnSpc>
                <a:spcPts val="4913"/>
              </a:lnSpc>
              <a:spcBef>
                <a:spcPct val="0"/>
              </a:spcBef>
            </a:pPr>
            <a:r>
              <a:rPr lang="en-US" sz="4199" spc="209">
                <a:solidFill>
                  <a:srgbClr val="4FBDB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 </a:t>
            </a:r>
            <a:r>
              <a:rPr lang="en-US" sz="4199" spc="209">
                <a:solidFill>
                  <a:srgbClr val="4FBDB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2.Performance Trend Overview – View simple charts or summaries of performance</a:t>
            </a:r>
          </a:p>
          <a:p>
            <a:pPr algn="l">
              <a:lnSpc>
                <a:spcPts val="4913"/>
              </a:lnSpc>
              <a:spcBef>
                <a:spcPct val="0"/>
              </a:spcBef>
            </a:pPr>
            <a:r>
              <a:rPr lang="en-US" sz="4199" spc="209">
                <a:solidFill>
                  <a:srgbClr val="4FBDB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 3.Study Reminder System – Receive reminders for study sessions and tasks</a:t>
            </a:r>
          </a:p>
          <a:p>
            <a:pPr algn="l">
              <a:lnSpc>
                <a:spcPts val="4913"/>
              </a:lnSpc>
              <a:spcBef>
                <a:spcPct val="0"/>
              </a:spcBef>
            </a:pPr>
            <a:r>
              <a:rPr lang="en-US" sz="4199" spc="209">
                <a:solidFill>
                  <a:srgbClr val="4FBDB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 4.Export &amp; Save Records – Download or save grade records as PDF or CSV</a:t>
            </a:r>
          </a:p>
          <a:p>
            <a:pPr algn="l">
              <a:lnSpc>
                <a:spcPts val="4913"/>
              </a:lnSpc>
              <a:spcBef>
                <a:spcPct val="0"/>
              </a:spcBef>
            </a:pPr>
            <a:r>
              <a:rPr lang="en-US" sz="4199" spc="209">
                <a:solidFill>
                  <a:srgbClr val="4FBDBA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  5.User-Friendly Interface – Easy-to-use design for students and teacher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4992607" cy="1678764"/>
          </a:xfrm>
          <a:custGeom>
            <a:avLst/>
            <a:gdLst/>
            <a:ahLst/>
            <a:cxnLst/>
            <a:rect r="r" b="b" t="t" l="l"/>
            <a:pathLst>
              <a:path h="1678764" w="4992607">
                <a:moveTo>
                  <a:pt x="0" y="0"/>
                </a:moveTo>
                <a:lnTo>
                  <a:pt x="4992607" y="0"/>
                </a:lnTo>
                <a:lnTo>
                  <a:pt x="4992607" y="1678764"/>
                </a:lnTo>
                <a:lnTo>
                  <a:pt x="0" y="1678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804801"/>
            <a:ext cx="4992607" cy="1678764"/>
          </a:xfrm>
          <a:custGeom>
            <a:avLst/>
            <a:gdLst/>
            <a:ahLst/>
            <a:cxnLst/>
            <a:rect r="r" b="b" t="t" l="l"/>
            <a:pathLst>
              <a:path h="1678764" w="4992607">
                <a:moveTo>
                  <a:pt x="0" y="0"/>
                </a:moveTo>
                <a:lnTo>
                  <a:pt x="4992607" y="0"/>
                </a:lnTo>
                <a:lnTo>
                  <a:pt x="4992607" y="1678764"/>
                </a:lnTo>
                <a:lnTo>
                  <a:pt x="0" y="1678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9210" y="1355682"/>
            <a:ext cx="1116182" cy="998983"/>
          </a:xfrm>
          <a:custGeom>
            <a:avLst/>
            <a:gdLst/>
            <a:ahLst/>
            <a:cxnLst/>
            <a:rect r="r" b="b" t="t" l="l"/>
            <a:pathLst>
              <a:path h="998983" w="1116182">
                <a:moveTo>
                  <a:pt x="0" y="0"/>
                </a:moveTo>
                <a:lnTo>
                  <a:pt x="1116182" y="0"/>
                </a:lnTo>
                <a:lnTo>
                  <a:pt x="1116182" y="998982"/>
                </a:lnTo>
                <a:lnTo>
                  <a:pt x="0" y="9989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27919" y="4206836"/>
            <a:ext cx="917473" cy="1029422"/>
          </a:xfrm>
          <a:custGeom>
            <a:avLst/>
            <a:gdLst/>
            <a:ahLst/>
            <a:cxnLst/>
            <a:rect r="r" b="b" t="t" l="l"/>
            <a:pathLst>
              <a:path h="1029422" w="917473">
                <a:moveTo>
                  <a:pt x="0" y="0"/>
                </a:moveTo>
                <a:lnTo>
                  <a:pt x="917473" y="0"/>
                </a:lnTo>
                <a:lnTo>
                  <a:pt x="917473" y="1029423"/>
                </a:lnTo>
                <a:lnTo>
                  <a:pt x="0" y="1029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27919" y="7697049"/>
            <a:ext cx="917473" cy="960704"/>
          </a:xfrm>
          <a:custGeom>
            <a:avLst/>
            <a:gdLst/>
            <a:ahLst/>
            <a:cxnLst/>
            <a:rect r="r" b="b" t="t" l="l"/>
            <a:pathLst>
              <a:path h="960704" w="917473">
                <a:moveTo>
                  <a:pt x="0" y="0"/>
                </a:moveTo>
                <a:lnTo>
                  <a:pt x="917473" y="0"/>
                </a:lnTo>
                <a:lnTo>
                  <a:pt x="917473" y="960704"/>
                </a:lnTo>
                <a:lnTo>
                  <a:pt x="0" y="9607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5725500" y="-1396380"/>
            <a:ext cx="7703650" cy="13620139"/>
            <a:chOff x="0" y="0"/>
            <a:chExt cx="2028945" cy="35871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8945" cy="3587197"/>
            </a:xfrm>
            <a:custGeom>
              <a:avLst/>
              <a:gdLst/>
              <a:ahLst/>
              <a:cxnLst/>
              <a:rect r="r" b="b" t="t" l="l"/>
              <a:pathLst>
                <a:path h="3587197" w="2028945">
                  <a:moveTo>
                    <a:pt x="0" y="0"/>
                  </a:moveTo>
                  <a:lnTo>
                    <a:pt x="2028945" y="0"/>
                  </a:lnTo>
                  <a:lnTo>
                    <a:pt x="2028945" y="3587197"/>
                  </a:lnTo>
                  <a:lnTo>
                    <a:pt x="0" y="3587197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028945" cy="3644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0" id="10"/>
          <p:cNvSpPr/>
          <p:nvPr/>
        </p:nvSpPr>
        <p:spPr>
          <a:xfrm rot="0">
            <a:off x="6021307" y="1858557"/>
            <a:ext cx="1179099" cy="0"/>
          </a:xfrm>
          <a:prstGeom prst="line">
            <a:avLst/>
          </a:prstGeom>
          <a:ln cap="flat" w="66675">
            <a:solidFill>
              <a:srgbClr val="AEFE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1" id="11"/>
          <p:cNvSpPr/>
          <p:nvPr/>
        </p:nvSpPr>
        <p:spPr>
          <a:xfrm>
            <a:off x="6021307" y="4677520"/>
            <a:ext cx="1179099" cy="0"/>
          </a:xfrm>
          <a:prstGeom prst="line">
            <a:avLst/>
          </a:prstGeom>
          <a:ln cap="flat" w="66675">
            <a:solidFill>
              <a:srgbClr val="AEFE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12" id="12"/>
          <p:cNvSpPr/>
          <p:nvPr/>
        </p:nvSpPr>
        <p:spPr>
          <a:xfrm flipH="false" flipV="false" rot="-5400000">
            <a:off x="10542254" y="5013876"/>
            <a:ext cx="10445574" cy="417823"/>
          </a:xfrm>
          <a:custGeom>
            <a:avLst/>
            <a:gdLst/>
            <a:ahLst/>
            <a:cxnLst/>
            <a:rect r="r" b="b" t="t" l="l"/>
            <a:pathLst>
              <a:path h="417823" w="10445574">
                <a:moveTo>
                  <a:pt x="0" y="0"/>
                </a:moveTo>
                <a:lnTo>
                  <a:pt x="10445574" y="0"/>
                </a:lnTo>
                <a:lnTo>
                  <a:pt x="10445574" y="417822"/>
                </a:lnTo>
                <a:lnTo>
                  <a:pt x="0" y="4178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5400000">
            <a:off x="12856592" y="5004648"/>
            <a:ext cx="8795891" cy="95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b="true" sz="63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Planned inputs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296677" y="1303249"/>
            <a:ext cx="3257674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Student Information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94876" y="4088875"/>
            <a:ext cx="3926431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Academic Performance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28700" y="6978990"/>
            <a:ext cx="4992607" cy="1678764"/>
          </a:xfrm>
          <a:custGeom>
            <a:avLst/>
            <a:gdLst/>
            <a:ahLst/>
            <a:cxnLst/>
            <a:rect r="r" b="b" t="t" l="l"/>
            <a:pathLst>
              <a:path h="1678764" w="4992607">
                <a:moveTo>
                  <a:pt x="0" y="0"/>
                </a:moveTo>
                <a:lnTo>
                  <a:pt x="4992607" y="0"/>
                </a:lnTo>
                <a:lnTo>
                  <a:pt x="4992607" y="1678763"/>
                </a:lnTo>
                <a:lnTo>
                  <a:pt x="0" y="16787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27919" y="7422098"/>
            <a:ext cx="917473" cy="884214"/>
          </a:xfrm>
          <a:custGeom>
            <a:avLst/>
            <a:gdLst/>
            <a:ahLst/>
            <a:cxnLst/>
            <a:rect r="r" b="b" t="t" l="l"/>
            <a:pathLst>
              <a:path h="884214" w="917473">
                <a:moveTo>
                  <a:pt x="0" y="0"/>
                </a:moveTo>
                <a:lnTo>
                  <a:pt x="917473" y="0"/>
                </a:lnTo>
                <a:lnTo>
                  <a:pt x="917473" y="884214"/>
                </a:lnTo>
                <a:lnTo>
                  <a:pt x="0" y="8842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8" id="18"/>
          <p:cNvSpPr/>
          <p:nvPr/>
        </p:nvSpPr>
        <p:spPr>
          <a:xfrm>
            <a:off x="6021307" y="7897543"/>
            <a:ext cx="1179099" cy="0"/>
          </a:xfrm>
          <a:prstGeom prst="line">
            <a:avLst/>
          </a:prstGeom>
          <a:ln cap="flat" w="66675">
            <a:solidFill>
              <a:srgbClr val="AEFE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9" id="19"/>
          <p:cNvSpPr txBox="true"/>
          <p:nvPr/>
        </p:nvSpPr>
        <p:spPr>
          <a:xfrm rot="0">
            <a:off x="2446603" y="7207590"/>
            <a:ext cx="3222975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Test Metadata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49188" y="1175469"/>
            <a:ext cx="8631594" cy="2367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Name, ID, Class/Grade</a:t>
            </a:r>
          </a:p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Optional: Age, Gender, Learning Preferences (for personalized recommendations)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43267" y="3814326"/>
            <a:ext cx="5643436" cy="2367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Subject name</a:t>
            </a:r>
          </a:p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Scores/grades per test (e.g., 12/20, A, 75%)</a:t>
            </a:r>
          </a:p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Test date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624807" y="6890385"/>
            <a:ext cx="5080357" cy="2367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Test type (quiz, midterm, final)</a:t>
            </a:r>
          </a:p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Weightage of the test (if applicable)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03561"/>
            <a:ext cx="4992607" cy="1678764"/>
          </a:xfrm>
          <a:custGeom>
            <a:avLst/>
            <a:gdLst/>
            <a:ahLst/>
            <a:cxnLst/>
            <a:rect r="r" b="b" t="t" l="l"/>
            <a:pathLst>
              <a:path h="1678764" w="4992607">
                <a:moveTo>
                  <a:pt x="0" y="0"/>
                </a:moveTo>
                <a:lnTo>
                  <a:pt x="4992607" y="0"/>
                </a:lnTo>
                <a:lnTo>
                  <a:pt x="4992607" y="1678764"/>
                </a:lnTo>
                <a:lnTo>
                  <a:pt x="0" y="1678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296650"/>
            <a:ext cx="4992607" cy="1678764"/>
          </a:xfrm>
          <a:custGeom>
            <a:avLst/>
            <a:gdLst/>
            <a:ahLst/>
            <a:cxnLst/>
            <a:rect r="r" b="b" t="t" l="l"/>
            <a:pathLst>
              <a:path h="1678764" w="4992607">
                <a:moveTo>
                  <a:pt x="0" y="0"/>
                </a:moveTo>
                <a:lnTo>
                  <a:pt x="4992607" y="0"/>
                </a:lnTo>
                <a:lnTo>
                  <a:pt x="4992607" y="1678764"/>
                </a:lnTo>
                <a:lnTo>
                  <a:pt x="0" y="1678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4383405"/>
            <a:ext cx="4992607" cy="1678764"/>
          </a:xfrm>
          <a:custGeom>
            <a:avLst/>
            <a:gdLst/>
            <a:ahLst/>
            <a:cxnLst/>
            <a:rect r="r" b="b" t="t" l="l"/>
            <a:pathLst>
              <a:path h="1678764" w="4992607">
                <a:moveTo>
                  <a:pt x="0" y="0"/>
                </a:moveTo>
                <a:lnTo>
                  <a:pt x="4992607" y="0"/>
                </a:lnTo>
                <a:lnTo>
                  <a:pt x="4992607" y="1678764"/>
                </a:lnTo>
                <a:lnTo>
                  <a:pt x="0" y="1678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6375714"/>
            <a:ext cx="4992607" cy="1678764"/>
          </a:xfrm>
          <a:custGeom>
            <a:avLst/>
            <a:gdLst/>
            <a:ahLst/>
            <a:cxnLst/>
            <a:rect r="r" b="b" t="t" l="l"/>
            <a:pathLst>
              <a:path h="1678764" w="4992607">
                <a:moveTo>
                  <a:pt x="0" y="0"/>
                </a:moveTo>
                <a:lnTo>
                  <a:pt x="4992607" y="0"/>
                </a:lnTo>
                <a:lnTo>
                  <a:pt x="4992607" y="1678764"/>
                </a:lnTo>
                <a:lnTo>
                  <a:pt x="0" y="1678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29210" y="630543"/>
            <a:ext cx="1116182" cy="998983"/>
          </a:xfrm>
          <a:custGeom>
            <a:avLst/>
            <a:gdLst/>
            <a:ahLst/>
            <a:cxnLst/>
            <a:rect r="r" b="b" t="t" l="l"/>
            <a:pathLst>
              <a:path h="998983" w="1116182">
                <a:moveTo>
                  <a:pt x="0" y="0"/>
                </a:moveTo>
                <a:lnTo>
                  <a:pt x="1116182" y="0"/>
                </a:lnTo>
                <a:lnTo>
                  <a:pt x="1116182" y="998982"/>
                </a:lnTo>
                <a:lnTo>
                  <a:pt x="0" y="9989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7919" y="2654658"/>
            <a:ext cx="917473" cy="1029422"/>
          </a:xfrm>
          <a:custGeom>
            <a:avLst/>
            <a:gdLst/>
            <a:ahLst/>
            <a:cxnLst/>
            <a:rect r="r" b="b" t="t" l="l"/>
            <a:pathLst>
              <a:path h="1029422" w="917473">
                <a:moveTo>
                  <a:pt x="0" y="0"/>
                </a:moveTo>
                <a:lnTo>
                  <a:pt x="917473" y="0"/>
                </a:lnTo>
                <a:lnTo>
                  <a:pt x="917473" y="1029423"/>
                </a:lnTo>
                <a:lnTo>
                  <a:pt x="0" y="1029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7919" y="4826514"/>
            <a:ext cx="917473" cy="884214"/>
          </a:xfrm>
          <a:custGeom>
            <a:avLst/>
            <a:gdLst/>
            <a:ahLst/>
            <a:cxnLst/>
            <a:rect r="r" b="b" t="t" l="l"/>
            <a:pathLst>
              <a:path h="884214" w="917473">
                <a:moveTo>
                  <a:pt x="0" y="0"/>
                </a:moveTo>
                <a:lnTo>
                  <a:pt x="917473" y="0"/>
                </a:lnTo>
                <a:lnTo>
                  <a:pt x="917473" y="884214"/>
                </a:lnTo>
                <a:lnTo>
                  <a:pt x="0" y="8842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27919" y="6734744"/>
            <a:ext cx="917473" cy="960704"/>
          </a:xfrm>
          <a:custGeom>
            <a:avLst/>
            <a:gdLst/>
            <a:ahLst/>
            <a:cxnLst/>
            <a:rect r="r" b="b" t="t" l="l"/>
            <a:pathLst>
              <a:path h="960704" w="917473">
                <a:moveTo>
                  <a:pt x="0" y="0"/>
                </a:moveTo>
                <a:lnTo>
                  <a:pt x="917473" y="0"/>
                </a:lnTo>
                <a:lnTo>
                  <a:pt x="917473" y="960704"/>
                </a:lnTo>
                <a:lnTo>
                  <a:pt x="0" y="9607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5725500" y="-1396380"/>
            <a:ext cx="7703650" cy="13620139"/>
            <a:chOff x="0" y="0"/>
            <a:chExt cx="2028945" cy="35871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28945" cy="3587197"/>
            </a:xfrm>
            <a:custGeom>
              <a:avLst/>
              <a:gdLst/>
              <a:ahLst/>
              <a:cxnLst/>
              <a:rect r="r" b="b" t="t" l="l"/>
              <a:pathLst>
                <a:path h="3587197" w="2028945">
                  <a:moveTo>
                    <a:pt x="0" y="0"/>
                  </a:moveTo>
                  <a:lnTo>
                    <a:pt x="2028945" y="0"/>
                  </a:lnTo>
                  <a:lnTo>
                    <a:pt x="2028945" y="3587197"/>
                  </a:lnTo>
                  <a:lnTo>
                    <a:pt x="0" y="3587197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028945" cy="3644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6021307" y="1166755"/>
            <a:ext cx="1179099" cy="0"/>
          </a:xfrm>
          <a:prstGeom prst="line">
            <a:avLst/>
          </a:prstGeom>
          <a:ln cap="flat" w="66675">
            <a:solidFill>
              <a:srgbClr val="AEFE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4" id="14"/>
          <p:cNvSpPr/>
          <p:nvPr/>
        </p:nvSpPr>
        <p:spPr>
          <a:xfrm>
            <a:off x="6021307" y="3169369"/>
            <a:ext cx="1179099" cy="0"/>
          </a:xfrm>
          <a:prstGeom prst="line">
            <a:avLst/>
          </a:prstGeom>
          <a:ln cap="flat" w="66675">
            <a:solidFill>
              <a:srgbClr val="AEFE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5" id="15"/>
          <p:cNvSpPr/>
          <p:nvPr/>
        </p:nvSpPr>
        <p:spPr>
          <a:xfrm>
            <a:off x="6021307" y="5301958"/>
            <a:ext cx="1179099" cy="0"/>
          </a:xfrm>
          <a:prstGeom prst="line">
            <a:avLst/>
          </a:prstGeom>
          <a:ln cap="flat" w="66675">
            <a:solidFill>
              <a:srgbClr val="AEFE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16" id="16"/>
          <p:cNvSpPr/>
          <p:nvPr/>
        </p:nvSpPr>
        <p:spPr>
          <a:xfrm>
            <a:off x="6021307" y="7337079"/>
            <a:ext cx="1179099" cy="0"/>
          </a:xfrm>
          <a:prstGeom prst="line">
            <a:avLst/>
          </a:prstGeom>
          <a:ln cap="flat" w="66675">
            <a:solidFill>
              <a:srgbClr val="AEFE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Freeform 17" id="17"/>
          <p:cNvSpPr/>
          <p:nvPr/>
        </p:nvSpPr>
        <p:spPr>
          <a:xfrm flipH="false" flipV="false" rot="-5400000">
            <a:off x="10542254" y="5013876"/>
            <a:ext cx="10445574" cy="417823"/>
          </a:xfrm>
          <a:custGeom>
            <a:avLst/>
            <a:gdLst/>
            <a:ahLst/>
            <a:cxnLst/>
            <a:rect r="r" b="b" t="t" l="l"/>
            <a:pathLst>
              <a:path h="417823" w="10445574">
                <a:moveTo>
                  <a:pt x="0" y="0"/>
                </a:moveTo>
                <a:lnTo>
                  <a:pt x="10445574" y="0"/>
                </a:lnTo>
                <a:lnTo>
                  <a:pt x="10445574" y="417822"/>
                </a:lnTo>
                <a:lnTo>
                  <a:pt x="0" y="4178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5400000">
            <a:off x="12856592" y="5004648"/>
            <a:ext cx="8795891" cy="95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sz="6399">
                <a:solidFill>
                  <a:srgbClr val="3DEDE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Sample outputs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028700" y="8202746"/>
            <a:ext cx="4992607" cy="1678764"/>
          </a:xfrm>
          <a:custGeom>
            <a:avLst/>
            <a:gdLst/>
            <a:ahLst/>
            <a:cxnLst/>
            <a:rect r="r" b="b" t="t" l="l"/>
            <a:pathLst>
              <a:path h="1678764" w="4992607">
                <a:moveTo>
                  <a:pt x="0" y="0"/>
                </a:moveTo>
                <a:lnTo>
                  <a:pt x="4992607" y="0"/>
                </a:lnTo>
                <a:lnTo>
                  <a:pt x="4992607" y="1678764"/>
                </a:lnTo>
                <a:lnTo>
                  <a:pt x="0" y="16787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27919" y="8561776"/>
            <a:ext cx="917473" cy="960704"/>
          </a:xfrm>
          <a:custGeom>
            <a:avLst/>
            <a:gdLst/>
            <a:ahLst/>
            <a:cxnLst/>
            <a:rect r="r" b="b" t="t" l="l"/>
            <a:pathLst>
              <a:path h="960704" w="917473">
                <a:moveTo>
                  <a:pt x="0" y="0"/>
                </a:moveTo>
                <a:lnTo>
                  <a:pt x="917473" y="0"/>
                </a:lnTo>
                <a:lnTo>
                  <a:pt x="917473" y="960704"/>
                </a:lnTo>
                <a:lnTo>
                  <a:pt x="0" y="96070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>
            <a:off x="6021307" y="9224962"/>
            <a:ext cx="1179099" cy="0"/>
          </a:xfrm>
          <a:prstGeom prst="line">
            <a:avLst/>
          </a:prstGeom>
          <a:ln cap="flat" w="66675">
            <a:solidFill>
              <a:srgbClr val="AEFEFF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22" id="22"/>
          <p:cNvSpPr txBox="true"/>
          <p:nvPr/>
        </p:nvSpPr>
        <p:spPr>
          <a:xfrm rot="0">
            <a:off x="2086656" y="640068"/>
            <a:ext cx="3644864" cy="1090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9"/>
              </a:lnSpc>
              <a:spcBef>
                <a:spcPct val="0"/>
              </a:spcBef>
            </a:pPr>
            <a:r>
              <a:rPr lang="en-US" b="true" sz="3700" spc="185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Individual Scores Analysis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571180" y="2594220"/>
            <a:ext cx="2675814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Predictions &amp; Insights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71180" y="4418038"/>
            <a:ext cx="2948563" cy="1644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1"/>
              </a:lnSpc>
              <a:spcBef>
                <a:spcPct val="0"/>
              </a:spcBef>
            </a:pPr>
            <a:r>
              <a:rPr lang="en-US" b="true" sz="3701" spc="185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Study Recommendations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571180" y="6633669"/>
            <a:ext cx="2948563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Reports &amp; Exports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341875" y="8453483"/>
            <a:ext cx="3407174" cy="118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Progress Tracking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86156" y="471299"/>
            <a:ext cx="6776477" cy="1825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7"/>
              </a:lnSpc>
              <a:spcBef>
                <a:spcPct val="0"/>
              </a:spcBef>
            </a:pPr>
            <a:r>
              <a:rPr lang="en-US" b="true" sz="3065" spc="153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Display scores per subject and per test</a:t>
            </a:r>
          </a:p>
          <a:p>
            <a:pPr algn="ctr">
              <a:lnSpc>
                <a:spcPts val="3587"/>
              </a:lnSpc>
              <a:spcBef>
                <a:spcPct val="0"/>
              </a:spcBef>
            </a:pPr>
            <a:r>
              <a:rPr lang="en-US" b="true" sz="3065" spc="153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Visual representation: charts/graphs showing trends over time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71931" y="2584695"/>
            <a:ext cx="6581706" cy="182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91"/>
              </a:lnSpc>
              <a:spcBef>
                <a:spcPct val="0"/>
              </a:spcBef>
            </a:pPr>
            <a:r>
              <a:rPr lang="en-US" b="true" sz="3069" spc="153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Predicted next score based on past performance (using average, weighted scores, or AI model)</a:t>
            </a:r>
          </a:p>
          <a:p>
            <a:pPr algn="ctr">
              <a:lnSpc>
                <a:spcPts val="3591"/>
              </a:lnSpc>
              <a:spcBef>
                <a:spcPct val="0"/>
              </a:spcBef>
            </a:pPr>
            <a:r>
              <a:rPr lang="en-US" b="true" sz="3069" spc="153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Highlight strong and weak subjects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360872" y="4565241"/>
            <a:ext cx="8034792" cy="177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9"/>
              </a:lnSpc>
              <a:spcBef>
                <a:spcPct val="0"/>
              </a:spcBef>
            </a:pPr>
            <a:r>
              <a:rPr lang="en-US" b="true" sz="3000" spc="150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Personalized reminders for revision based on weak areas</a:t>
            </a:r>
          </a:p>
          <a:p>
            <a:pPr algn="ctr">
              <a:lnSpc>
                <a:spcPts val="3509"/>
              </a:lnSpc>
              <a:spcBef>
                <a:spcPct val="0"/>
              </a:spcBef>
            </a:pPr>
            <a:r>
              <a:rPr lang="en-US" b="true" sz="3000" spc="150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Suggested study materials or resources</a:t>
            </a:r>
          </a:p>
          <a:p>
            <a:pPr algn="ctr">
              <a:lnSpc>
                <a:spcPts val="3509"/>
              </a:lnSpc>
              <a:spcBef>
                <a:spcPct val="0"/>
              </a:spcBef>
            </a:pPr>
            <a:r>
              <a:rPr lang="en-US" b="true" sz="3000" spc="150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Study schedule or micro-goals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486156" y="6624144"/>
            <a:ext cx="7192765" cy="1506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5"/>
              </a:lnSpc>
              <a:spcBef>
                <a:spcPct val="0"/>
              </a:spcBef>
            </a:pPr>
            <a:r>
              <a:rPr lang="en-US" b="true" sz="3371" spc="168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Export grades as CSV, Excel, or PDF</a:t>
            </a:r>
          </a:p>
          <a:p>
            <a:pPr algn="ctr">
              <a:lnSpc>
                <a:spcPts val="3945"/>
              </a:lnSpc>
              <a:spcBef>
                <a:spcPct val="0"/>
              </a:spcBef>
            </a:pPr>
            <a:r>
              <a:rPr lang="en-US" b="true" sz="3371" spc="168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Optional: Generate performance reports with trends and predictions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740954" y="8416211"/>
            <a:ext cx="6266880" cy="1549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3469" spc="173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Show improvement over time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3469" spc="173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Compare performance across multiple attempts/tests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915773" y="-1131606"/>
            <a:ext cx="22666850" cy="12496550"/>
            <a:chOff x="0" y="0"/>
            <a:chExt cx="5969870" cy="32912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69870" cy="3291272"/>
            </a:xfrm>
            <a:custGeom>
              <a:avLst/>
              <a:gdLst/>
              <a:ahLst/>
              <a:cxnLst/>
              <a:rect r="r" b="b" t="t" l="l"/>
              <a:pathLst>
                <a:path h="3291272" w="5969870">
                  <a:moveTo>
                    <a:pt x="0" y="0"/>
                  </a:moveTo>
                  <a:lnTo>
                    <a:pt x="5969870" y="0"/>
                  </a:lnTo>
                  <a:lnTo>
                    <a:pt x="5969870" y="3291272"/>
                  </a:lnTo>
                  <a:lnTo>
                    <a:pt x="0" y="3291272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969870" cy="3348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541153" y="-701296"/>
            <a:ext cx="2969200" cy="12496550"/>
            <a:chOff x="0" y="0"/>
            <a:chExt cx="782012" cy="329127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2012" cy="3291272"/>
            </a:xfrm>
            <a:custGeom>
              <a:avLst/>
              <a:gdLst/>
              <a:ahLst/>
              <a:cxnLst/>
              <a:rect r="r" b="b" t="t" l="l"/>
              <a:pathLst>
                <a:path h="3291272" w="782012">
                  <a:moveTo>
                    <a:pt x="0" y="0"/>
                  </a:moveTo>
                  <a:lnTo>
                    <a:pt x="782012" y="0"/>
                  </a:lnTo>
                  <a:lnTo>
                    <a:pt x="782012" y="3291272"/>
                  </a:lnTo>
                  <a:lnTo>
                    <a:pt x="0" y="3291272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782012" cy="3348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11527278" y="5040810"/>
            <a:ext cx="10445574" cy="417823"/>
          </a:xfrm>
          <a:custGeom>
            <a:avLst/>
            <a:gdLst/>
            <a:ahLst/>
            <a:cxnLst/>
            <a:rect r="r" b="b" t="t" l="l"/>
            <a:pathLst>
              <a:path h="417823" w="10445574">
                <a:moveTo>
                  <a:pt x="0" y="0"/>
                </a:moveTo>
                <a:lnTo>
                  <a:pt x="10445574" y="0"/>
                </a:lnTo>
                <a:lnTo>
                  <a:pt x="10445574" y="417823"/>
                </a:lnTo>
                <a:lnTo>
                  <a:pt x="0" y="4178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-5400000">
            <a:off x="-3680622" y="4907758"/>
            <a:ext cx="10445574" cy="417823"/>
          </a:xfrm>
          <a:custGeom>
            <a:avLst/>
            <a:gdLst/>
            <a:ahLst/>
            <a:cxnLst/>
            <a:rect r="r" b="b" t="t" l="l"/>
            <a:pathLst>
              <a:path h="417823" w="10445574">
                <a:moveTo>
                  <a:pt x="10445574" y="0"/>
                </a:moveTo>
                <a:lnTo>
                  <a:pt x="0" y="0"/>
                </a:lnTo>
                <a:lnTo>
                  <a:pt x="0" y="417823"/>
                </a:lnTo>
                <a:lnTo>
                  <a:pt x="10445574" y="417823"/>
                </a:lnTo>
                <a:lnTo>
                  <a:pt x="1044557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-2429499" y="889442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5" y="0"/>
                </a:lnTo>
                <a:lnTo>
                  <a:pt x="5520045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5527978" y="889442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-2429499" y="6707407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5" y="0"/>
                </a:lnTo>
                <a:lnTo>
                  <a:pt x="5520045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5400000">
            <a:off x="15527978" y="6707407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394672" y="1038225"/>
            <a:ext cx="11498656" cy="95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b="true" sz="63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Flow of code (Pseudocode)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81583" y="2303505"/>
            <a:ext cx="14659570" cy="7092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Start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Ask for student name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Initialize empty list of scores While user wants to add score: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Input score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Validate input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Store score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Calculate prediction (e.g., average of scores)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Display all scores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Display predicted score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Option to export scores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    Option to set study reminder </a:t>
            </a:r>
          </a:p>
          <a:p>
            <a:pPr algn="l">
              <a:lnSpc>
                <a:spcPts val="4679"/>
              </a:lnSpc>
              <a:spcBef>
                <a:spcPct val="0"/>
              </a:spcBef>
            </a:pPr>
            <a:r>
              <a:rPr lang="en-US" b="true" sz="3999" spc="1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End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521075" y="-377508"/>
            <a:ext cx="27488974" cy="3086100"/>
            <a:chOff x="0" y="0"/>
            <a:chExt cx="723989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39895" cy="812800"/>
            </a:xfrm>
            <a:custGeom>
              <a:avLst/>
              <a:gdLst/>
              <a:ahLst/>
              <a:cxnLst/>
              <a:rect r="r" b="b" t="t" l="l"/>
              <a:pathLst>
                <a:path h="812800" w="7239895">
                  <a:moveTo>
                    <a:pt x="0" y="0"/>
                  </a:moveTo>
                  <a:lnTo>
                    <a:pt x="7239895" y="0"/>
                  </a:lnTo>
                  <a:lnTo>
                    <a:pt x="72398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5858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7239895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0" y="2339060"/>
            <a:ext cx="18476613" cy="739065"/>
          </a:xfrm>
          <a:custGeom>
            <a:avLst/>
            <a:gdLst/>
            <a:ahLst/>
            <a:cxnLst/>
            <a:rect r="r" b="b" t="t" l="l"/>
            <a:pathLst>
              <a:path h="739065" w="18476613">
                <a:moveTo>
                  <a:pt x="0" y="0"/>
                </a:moveTo>
                <a:lnTo>
                  <a:pt x="18476613" y="0"/>
                </a:lnTo>
                <a:lnTo>
                  <a:pt x="18476613" y="739064"/>
                </a:lnTo>
                <a:lnTo>
                  <a:pt x="0" y="7390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0" y="-1086438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297375" y="-1086438"/>
            <a:ext cx="5520044" cy="3795030"/>
          </a:xfrm>
          <a:custGeom>
            <a:avLst/>
            <a:gdLst/>
            <a:ahLst/>
            <a:cxnLst/>
            <a:rect r="r" b="b" t="t" l="l"/>
            <a:pathLst>
              <a:path h="3795030" w="5520044">
                <a:moveTo>
                  <a:pt x="0" y="0"/>
                </a:moveTo>
                <a:lnTo>
                  <a:pt x="5520044" y="0"/>
                </a:lnTo>
                <a:lnTo>
                  <a:pt x="5520044" y="3795030"/>
                </a:lnTo>
                <a:lnTo>
                  <a:pt x="0" y="3795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67908" y="554546"/>
            <a:ext cx="7681603" cy="95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b="true" sz="63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GitHub repository link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66192" y="4840605"/>
            <a:ext cx="15555616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19"/>
              </a:lnSpc>
              <a:spcBef>
                <a:spcPct val="0"/>
              </a:spcBef>
            </a:pPr>
            <a:r>
              <a:rPr lang="en-US" b="true" sz="5999" spc="299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[https://github.com/zj45679/Layson-Abelgas]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381969"/>
            <a:ext cx="5680045" cy="3905031"/>
          </a:xfrm>
          <a:custGeom>
            <a:avLst/>
            <a:gdLst/>
            <a:ahLst/>
            <a:cxnLst/>
            <a:rect r="r" b="b" t="t" l="l"/>
            <a:pathLst>
              <a:path h="3905031" w="5680045">
                <a:moveTo>
                  <a:pt x="0" y="0"/>
                </a:moveTo>
                <a:lnTo>
                  <a:pt x="5680045" y="0"/>
                </a:lnTo>
                <a:lnTo>
                  <a:pt x="5680045" y="3905031"/>
                </a:lnTo>
                <a:lnTo>
                  <a:pt x="0" y="3905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607955" y="6381969"/>
            <a:ext cx="5680045" cy="3905031"/>
          </a:xfrm>
          <a:custGeom>
            <a:avLst/>
            <a:gdLst/>
            <a:ahLst/>
            <a:cxnLst/>
            <a:rect r="r" b="b" t="t" l="l"/>
            <a:pathLst>
              <a:path h="3905031" w="5680045">
                <a:moveTo>
                  <a:pt x="0" y="0"/>
                </a:moveTo>
                <a:lnTo>
                  <a:pt x="5680045" y="0"/>
                </a:lnTo>
                <a:lnTo>
                  <a:pt x="5680045" y="3905031"/>
                </a:lnTo>
                <a:lnTo>
                  <a:pt x="0" y="3905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-2116005" y="1543262"/>
            <a:ext cx="20404005" cy="816160"/>
          </a:xfrm>
          <a:custGeom>
            <a:avLst/>
            <a:gdLst/>
            <a:ahLst/>
            <a:cxnLst/>
            <a:rect r="r" b="b" t="t" l="l"/>
            <a:pathLst>
              <a:path h="816160" w="20404005">
                <a:moveTo>
                  <a:pt x="0" y="0"/>
                </a:moveTo>
                <a:lnTo>
                  <a:pt x="20404005" y="0"/>
                </a:lnTo>
                <a:lnTo>
                  <a:pt x="20404005" y="816160"/>
                </a:lnTo>
                <a:lnTo>
                  <a:pt x="0" y="816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0586" y="2814092"/>
            <a:ext cx="17646828" cy="401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64"/>
              </a:lnSpc>
              <a:spcBef>
                <a:spcPct val="0"/>
              </a:spcBef>
            </a:pPr>
          </a:p>
          <a:p>
            <a:pPr algn="just">
              <a:lnSpc>
                <a:spcPts val="5264"/>
              </a:lnSpc>
              <a:spcBef>
                <a:spcPct val="0"/>
              </a:spcBef>
            </a:pPr>
            <a:r>
              <a:rPr lang="en-US" b="true" sz="4499" spc="224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 the end, FZ A-Tracker is all about making a student’s academic life easier. By keeping grades organized, showing trends, and offering helpful reminders, it gives students a clearer picture of progress. Our goal is simple, help learners stay on track, improve steadily, and make studying a little less stressful.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28371" y="554546"/>
            <a:ext cx="4031258" cy="957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7"/>
              </a:lnSpc>
              <a:spcBef>
                <a:spcPct val="0"/>
              </a:spcBef>
            </a:pPr>
            <a:r>
              <a:rPr lang="en-US" b="true" sz="6399" spc="319">
                <a:solidFill>
                  <a:srgbClr val="AEFE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Conclusion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2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381969"/>
            <a:ext cx="5680045" cy="3905031"/>
          </a:xfrm>
          <a:custGeom>
            <a:avLst/>
            <a:gdLst/>
            <a:ahLst/>
            <a:cxnLst/>
            <a:rect r="r" b="b" t="t" l="l"/>
            <a:pathLst>
              <a:path h="3905031" w="5680045">
                <a:moveTo>
                  <a:pt x="0" y="0"/>
                </a:moveTo>
                <a:lnTo>
                  <a:pt x="5680045" y="0"/>
                </a:lnTo>
                <a:lnTo>
                  <a:pt x="5680045" y="3905031"/>
                </a:lnTo>
                <a:lnTo>
                  <a:pt x="0" y="3905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2607955" y="6381969"/>
            <a:ext cx="5680045" cy="3905031"/>
          </a:xfrm>
          <a:custGeom>
            <a:avLst/>
            <a:gdLst/>
            <a:ahLst/>
            <a:cxnLst/>
            <a:rect r="r" b="b" t="t" l="l"/>
            <a:pathLst>
              <a:path h="3905031" w="5680045">
                <a:moveTo>
                  <a:pt x="0" y="0"/>
                </a:moveTo>
                <a:lnTo>
                  <a:pt x="5680045" y="0"/>
                </a:lnTo>
                <a:lnTo>
                  <a:pt x="5680045" y="3905031"/>
                </a:lnTo>
                <a:lnTo>
                  <a:pt x="0" y="39050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50721" y="4402025"/>
            <a:ext cx="8576157" cy="1544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0"/>
              </a:lnSpc>
            </a:pPr>
            <a:r>
              <a:rPr lang="en-US" b="true" sz="10299">
                <a:solidFill>
                  <a:srgbClr val="3DEDE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800000">
            <a:off x="-2116005" y="1543262"/>
            <a:ext cx="20404005" cy="816160"/>
          </a:xfrm>
          <a:custGeom>
            <a:avLst/>
            <a:gdLst/>
            <a:ahLst/>
            <a:cxnLst/>
            <a:rect r="r" b="b" t="t" l="l"/>
            <a:pathLst>
              <a:path h="816160" w="20404005">
                <a:moveTo>
                  <a:pt x="0" y="0"/>
                </a:moveTo>
                <a:lnTo>
                  <a:pt x="20404005" y="0"/>
                </a:lnTo>
                <a:lnTo>
                  <a:pt x="20404005" y="816160"/>
                </a:lnTo>
                <a:lnTo>
                  <a:pt x="0" y="8161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DAG5zNo-79k</dc:identifier>
  <dcterms:modified xsi:type="dcterms:W3CDTF">2011-08-01T06:04:30Z</dcterms:modified>
  <cp:revision>1</cp:revision>
  <dc:title>FZ A-Tracker</dc:title>
</cp:coreProperties>
</file>